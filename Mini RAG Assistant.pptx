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Times New Roman Bold" charset="1" panose="02020803070505020304"/>
      <p:regular r:id="rId11"/>
    </p:embeddedFont>
    <p:embeddedFont>
      <p:font typeface="Times New Roman" charset="1" panose="020206030504050203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rive.google.com/file/d/1hRwUuUcnwNtLHNx3S8uGMRXNGwfaQOVm/view?usp=sharing" TargetMode="External" Type="http://schemas.openxmlformats.org/officeDocument/2006/relationships/hyperlink"/><Relationship Id="rId3" Target="https://github.com/Varshitha-Pendyala/Mini_RAG_Assistan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0805" y="321912"/>
            <a:ext cx="17744489" cy="9643175"/>
            <a:chOff x="0" y="0"/>
            <a:chExt cx="4673446" cy="2539766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673446" cy="2539766"/>
            </a:xfrm>
            <a:custGeom>
              <a:avLst/>
              <a:gdLst/>
              <a:ahLst/>
              <a:cxnLst/>
              <a:rect r="r" b="b" t="t" l="l"/>
              <a:pathLst>
                <a:path h="2539766" w="4673446">
                  <a:moveTo>
                    <a:pt x="0" y="0"/>
                  </a:moveTo>
                  <a:lnTo>
                    <a:pt x="4673446" y="0"/>
                  </a:lnTo>
                  <a:lnTo>
                    <a:pt x="4673446" y="2539766"/>
                  </a:lnTo>
                  <a:lnTo>
                    <a:pt x="0" y="253976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673446" cy="2596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160973" y="5640765"/>
            <a:ext cx="3855272" cy="3816719"/>
          </a:xfrm>
          <a:custGeom>
            <a:avLst/>
            <a:gdLst/>
            <a:ahLst/>
            <a:cxnLst/>
            <a:rect r="r" b="b" t="t" l="l"/>
            <a:pathLst>
              <a:path h="3816719" w="3855272">
                <a:moveTo>
                  <a:pt x="0" y="0"/>
                </a:moveTo>
                <a:lnTo>
                  <a:pt x="3855272" y="0"/>
                </a:lnTo>
                <a:lnTo>
                  <a:pt x="3855272" y="3816719"/>
                </a:lnTo>
                <a:lnTo>
                  <a:pt x="0" y="3816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02381"/>
            <a:ext cx="15558488" cy="1025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UNDERSTANDING &amp; OBJECTIVE</a:t>
            </a:r>
          </a:p>
          <a:p>
            <a:pPr algn="just">
              <a:lnSpc>
                <a:spcPts val="4029"/>
              </a:lnSpc>
            </a:pPr>
            <a:r>
              <a:rPr lang="en-US" sz="335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Understanding</a:t>
            </a:r>
          </a:p>
          <a:p>
            <a:pPr algn="just" marL="725050" indent="-362525" lvl="1">
              <a:lnSpc>
                <a:spcPts val="4029"/>
              </a:lnSpc>
              <a:buFont typeface="Arial"/>
              <a:buChar char="•"/>
            </a:pPr>
            <a:r>
              <a:rPr lang="en-US" b="true" sz="335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Users need quick, accurate answers from their own documents (PDFs, DOCX, TXT)</a:t>
            </a:r>
          </a:p>
          <a:p>
            <a:pPr algn="just" marL="725050" indent="-362525" lvl="1">
              <a:lnSpc>
                <a:spcPts val="4029"/>
              </a:lnSpc>
              <a:buFont typeface="Arial"/>
              <a:buChar char="•"/>
            </a:pPr>
            <a:r>
              <a:rPr lang="en-US" b="true" sz="335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Traditional keyword search fails to:</a:t>
            </a:r>
          </a:p>
          <a:p>
            <a:pPr algn="just" marL="1450100" indent="-483367" lvl="2">
              <a:lnSpc>
                <a:spcPts val="4029"/>
              </a:lnSpc>
              <a:buFont typeface="Arial"/>
              <a:buChar char="⚬"/>
            </a:pPr>
            <a:r>
              <a:rPr lang="en-US" sz="33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intent</a:t>
            </a:r>
          </a:p>
          <a:p>
            <a:pPr algn="just" marL="1450100" indent="-483367" lvl="2">
              <a:lnSpc>
                <a:spcPts val="4029"/>
              </a:lnSpc>
              <a:buFont typeface="Arial"/>
              <a:buChar char="⚬"/>
            </a:pPr>
            <a:r>
              <a:rPr lang="en-US" sz="33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summarized or contextual answers</a:t>
            </a:r>
          </a:p>
          <a:p>
            <a:pPr algn="just" marL="725050" indent="-362525" lvl="1">
              <a:lnSpc>
                <a:spcPts val="4029"/>
              </a:lnSpc>
              <a:buFont typeface="Arial"/>
              <a:buChar char="•"/>
            </a:pPr>
            <a:r>
              <a:rPr lang="en-US" b="true" sz="335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Need an AI system that is:</a:t>
            </a:r>
          </a:p>
          <a:p>
            <a:pPr algn="just" marL="1450100" indent="-483367" lvl="2">
              <a:lnSpc>
                <a:spcPts val="4029"/>
              </a:lnSpc>
              <a:buFont typeface="Arial"/>
              <a:buChar char="⚬"/>
            </a:pPr>
            <a:r>
              <a:rPr lang="en-US" sz="33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Context-aware</a:t>
            </a:r>
          </a:p>
          <a:p>
            <a:pPr algn="just" marL="1450100" indent="-483367" lvl="2">
              <a:lnSpc>
                <a:spcPts val="4029"/>
              </a:lnSpc>
              <a:buFont typeface="Arial"/>
              <a:buChar char="⚬"/>
            </a:pPr>
            <a:r>
              <a:rPr lang="en-US" sz="33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Grounded in uploaded documents</a:t>
            </a:r>
          </a:p>
          <a:p>
            <a:pPr algn="just" marL="1450100" indent="-483367" lvl="2">
              <a:lnSpc>
                <a:spcPts val="4029"/>
              </a:lnSpc>
              <a:buFont typeface="Arial"/>
              <a:buChar char="⚬"/>
            </a:pPr>
            <a:r>
              <a:rPr lang="en-US" sz="33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Transparent via confidence scoring</a:t>
            </a:r>
          </a:p>
          <a:p>
            <a:pPr algn="l">
              <a:lnSpc>
                <a:spcPts val="4029"/>
              </a:lnSpc>
            </a:pPr>
            <a:r>
              <a:rPr lang="en-US" sz="335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</a:p>
          <a:p>
            <a:pPr algn="l" marL="725050" indent="-362525" lvl="1">
              <a:lnSpc>
                <a:spcPts val="4029"/>
              </a:lnSpc>
              <a:buFont typeface="Arial"/>
              <a:buChar char="•"/>
            </a:pPr>
            <a:r>
              <a:rPr lang="en-US" b="true" sz="335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Build a Mini Retrieval-Augmented Generation (RAG) Assistant that:</a:t>
            </a:r>
          </a:p>
          <a:p>
            <a:pPr algn="l" marL="1450100" indent="-483367" lvl="2">
              <a:lnSpc>
                <a:spcPts val="4029"/>
              </a:lnSpc>
              <a:buFont typeface="Arial"/>
              <a:buChar char="⚬"/>
            </a:pPr>
            <a:r>
              <a:rPr lang="en-US" sz="33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users to upload documents</a:t>
            </a:r>
          </a:p>
          <a:p>
            <a:pPr algn="l" marL="1450100" indent="-483367" lvl="2">
              <a:lnSpc>
                <a:spcPts val="4029"/>
              </a:lnSpc>
              <a:buFont typeface="Arial"/>
              <a:buChar char="⚬"/>
            </a:pPr>
            <a:r>
              <a:rPr lang="en-US" sz="33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Answers questions strictly from document context</a:t>
            </a:r>
          </a:p>
          <a:p>
            <a:pPr algn="l" marL="1450100" indent="-483367" lvl="2">
              <a:lnSpc>
                <a:spcPts val="4029"/>
              </a:lnSpc>
              <a:buFont typeface="Arial"/>
              <a:buChar char="⚬"/>
            </a:pPr>
            <a:r>
              <a:rPr lang="en-US" sz="33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confidence scores based on retrieval relevance</a:t>
            </a:r>
          </a:p>
          <a:p>
            <a:pPr algn="l" marL="1450100" indent="-483367" lvl="2">
              <a:lnSpc>
                <a:spcPts val="4029"/>
              </a:lnSpc>
              <a:buFont typeface="Arial"/>
              <a:buChar char="⚬"/>
            </a:pPr>
            <a:r>
              <a:rPr lang="en-US" sz="33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Runs as a lightweight, interactive Streamlit POC</a:t>
            </a:r>
          </a:p>
          <a:p>
            <a:pPr algn="l">
              <a:lnSpc>
                <a:spcPts val="3789"/>
              </a:lnSpc>
            </a:pPr>
          </a:p>
          <a:p>
            <a:pPr algn="l">
              <a:lnSpc>
                <a:spcPts val="3789"/>
              </a:lnSpc>
            </a:pPr>
          </a:p>
          <a:p>
            <a:pPr algn="l">
              <a:lnSpc>
                <a:spcPts val="37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1755" y="321912"/>
            <a:ext cx="17744489" cy="9643175"/>
            <a:chOff x="0" y="0"/>
            <a:chExt cx="4673446" cy="2539766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673446" cy="2539766"/>
            </a:xfrm>
            <a:custGeom>
              <a:avLst/>
              <a:gdLst/>
              <a:ahLst/>
              <a:cxnLst/>
              <a:rect r="r" b="b" t="t" l="l"/>
              <a:pathLst>
                <a:path h="2539766" w="4673446">
                  <a:moveTo>
                    <a:pt x="0" y="0"/>
                  </a:moveTo>
                  <a:lnTo>
                    <a:pt x="4673446" y="0"/>
                  </a:lnTo>
                  <a:lnTo>
                    <a:pt x="4673446" y="2539766"/>
                  </a:lnTo>
                  <a:lnTo>
                    <a:pt x="0" y="253976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673446" cy="2596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98588" y="1850356"/>
            <a:ext cx="14962095" cy="7661231"/>
          </a:xfrm>
          <a:custGeom>
            <a:avLst/>
            <a:gdLst/>
            <a:ahLst/>
            <a:cxnLst/>
            <a:rect r="r" b="b" t="t" l="l"/>
            <a:pathLst>
              <a:path h="7661231" w="14962095">
                <a:moveTo>
                  <a:pt x="0" y="0"/>
                </a:moveTo>
                <a:lnTo>
                  <a:pt x="14962094" y="0"/>
                </a:lnTo>
                <a:lnTo>
                  <a:pt x="14962094" y="7661230"/>
                </a:lnTo>
                <a:lnTo>
                  <a:pt x="0" y="7661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7" t="0" r="-61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576262"/>
            <a:ext cx="15701870" cy="80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 ARCHITECTURE &amp; D</a:t>
            </a:r>
            <a:r>
              <a:rPr lang="en-US" b="true" sz="4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ESIGN FLOW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1755" y="321912"/>
            <a:ext cx="17744489" cy="9643175"/>
            <a:chOff x="0" y="0"/>
            <a:chExt cx="4673446" cy="2539766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673446" cy="2539766"/>
            </a:xfrm>
            <a:custGeom>
              <a:avLst/>
              <a:gdLst/>
              <a:ahLst/>
              <a:cxnLst/>
              <a:rect r="r" b="b" t="t" l="l"/>
              <a:pathLst>
                <a:path h="2539766" w="4673446">
                  <a:moveTo>
                    <a:pt x="0" y="0"/>
                  </a:moveTo>
                  <a:lnTo>
                    <a:pt x="4673446" y="0"/>
                  </a:lnTo>
                  <a:lnTo>
                    <a:pt x="4673446" y="2539766"/>
                  </a:lnTo>
                  <a:lnTo>
                    <a:pt x="0" y="253976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673446" cy="2596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009650"/>
            <a:ext cx="16230600" cy="724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sz="4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HIGHLIGHTS</a:t>
            </a:r>
          </a:p>
          <a:p>
            <a:pPr algn="just">
              <a:lnSpc>
                <a:spcPts val="3600"/>
              </a:lnSpc>
            </a:pPr>
          </a:p>
          <a:p>
            <a:pPr algn="just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Technical Decisions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for rapid UI prototyping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FAISS for fast local vector search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OpenAI Embeddings for semantic accuracy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hallucination  </a:t>
            </a:r>
          </a:p>
          <a:p>
            <a:pPr algn="just">
              <a:lnSpc>
                <a:spcPts val="3600"/>
              </a:lnSpc>
            </a:pPr>
          </a:p>
          <a:p>
            <a:pPr algn="just">
              <a:lnSpc>
                <a:spcPts val="3600"/>
              </a:lnSpc>
            </a:pPr>
          </a:p>
          <a:p>
            <a:pPr algn="just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UI Features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upload 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input box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 section</a:t>
            </a:r>
          </a:p>
          <a:p>
            <a:pPr algn="just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 score display</a:t>
            </a:r>
          </a:p>
          <a:p>
            <a:pPr algn="just">
              <a:lnSpc>
                <a:spcPts val="2400"/>
              </a:lnSpc>
            </a:pPr>
          </a:p>
          <a:p>
            <a:pPr algn="just" marL="0" indent="0" lvl="0">
              <a:lnSpc>
                <a:spcPts val="240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023559" y="8210757"/>
            <a:ext cx="12764313" cy="1447593"/>
          </a:xfrm>
          <a:custGeom>
            <a:avLst/>
            <a:gdLst/>
            <a:ahLst/>
            <a:cxnLst/>
            <a:rect r="r" b="b" t="t" l="l"/>
            <a:pathLst>
              <a:path h="1447593" w="12764313">
                <a:moveTo>
                  <a:pt x="0" y="0"/>
                </a:moveTo>
                <a:lnTo>
                  <a:pt x="12764313" y="0"/>
                </a:lnTo>
                <a:lnTo>
                  <a:pt x="12764313" y="1447593"/>
                </a:lnTo>
                <a:lnTo>
                  <a:pt x="0" y="14475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72128" y="5186829"/>
            <a:ext cx="11715744" cy="1807216"/>
          </a:xfrm>
          <a:custGeom>
            <a:avLst/>
            <a:gdLst/>
            <a:ahLst/>
            <a:cxnLst/>
            <a:rect r="r" b="b" t="t" l="l"/>
            <a:pathLst>
              <a:path h="1807216" w="11715744">
                <a:moveTo>
                  <a:pt x="0" y="0"/>
                </a:moveTo>
                <a:lnTo>
                  <a:pt x="11715744" y="0"/>
                </a:lnTo>
                <a:lnTo>
                  <a:pt x="11715744" y="1807216"/>
                </a:lnTo>
                <a:lnTo>
                  <a:pt x="0" y="1807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66653" y="7222645"/>
            <a:ext cx="12121220" cy="763106"/>
          </a:xfrm>
          <a:custGeom>
            <a:avLst/>
            <a:gdLst/>
            <a:ahLst/>
            <a:cxnLst/>
            <a:rect r="r" b="b" t="t" l="l"/>
            <a:pathLst>
              <a:path h="763106" w="12121220">
                <a:moveTo>
                  <a:pt x="0" y="0"/>
                </a:moveTo>
                <a:lnTo>
                  <a:pt x="12121219" y="0"/>
                </a:lnTo>
                <a:lnTo>
                  <a:pt x="12121219" y="763106"/>
                </a:lnTo>
                <a:lnTo>
                  <a:pt x="0" y="763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24784" y="2157413"/>
            <a:ext cx="9513408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Logic Highlights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Chunking using RecursiveCharacterTextSplitter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Top-k similarity retrieval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 score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1755" y="321912"/>
            <a:ext cx="17744489" cy="9643175"/>
            <a:chOff x="0" y="0"/>
            <a:chExt cx="4673446" cy="2539766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673446" cy="2539766"/>
            </a:xfrm>
            <a:custGeom>
              <a:avLst/>
              <a:gdLst/>
              <a:ahLst/>
              <a:cxnLst/>
              <a:rect r="r" b="b" t="t" l="l"/>
              <a:pathLst>
                <a:path h="2539766" w="4673446">
                  <a:moveTo>
                    <a:pt x="0" y="0"/>
                  </a:moveTo>
                  <a:lnTo>
                    <a:pt x="4673446" y="0"/>
                  </a:lnTo>
                  <a:lnTo>
                    <a:pt x="4673446" y="2539766"/>
                  </a:lnTo>
                  <a:lnTo>
                    <a:pt x="0" y="253976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673446" cy="2596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383575"/>
            <a:ext cx="16004905" cy="980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 &amp; LEARNINGS</a:t>
            </a:r>
          </a:p>
          <a:p>
            <a:pPr algn="l">
              <a:lnSpc>
                <a:spcPts val="4781"/>
              </a:lnSpc>
            </a:pPr>
            <a:r>
              <a:rPr lang="en-US" sz="341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</a:t>
            </a:r>
          </a:p>
          <a:p>
            <a:pPr algn="l" marL="737424" indent="-368712" lvl="1">
              <a:lnSpc>
                <a:spcPts val="4781"/>
              </a:lnSpc>
              <a:buFont typeface="Arial"/>
              <a:buChar char="•"/>
            </a:pPr>
            <a:r>
              <a:rPr lang="en-US" sz="3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ibrary &amp; Documentation Changes</a:t>
            </a:r>
          </a:p>
          <a:p>
            <a:pPr algn="l" marL="737424" indent="-368712" lvl="1">
              <a:lnSpc>
                <a:spcPts val="4781"/>
              </a:lnSpc>
              <a:buFont typeface="Arial"/>
              <a:buChar char="•"/>
            </a:pPr>
            <a:r>
              <a:rPr lang="en-US" sz="3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 document processing time</a:t>
            </a:r>
          </a:p>
          <a:p>
            <a:pPr algn="l" marL="737424" indent="-368712" lvl="1">
              <a:lnSpc>
                <a:spcPts val="4781"/>
              </a:lnSpc>
              <a:buFont typeface="Arial"/>
              <a:buChar char="•"/>
            </a:pPr>
            <a:r>
              <a:rPr lang="en-US" sz="3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irrelevant retrievals</a:t>
            </a:r>
          </a:p>
          <a:p>
            <a:pPr algn="l" marL="737424" indent="-368712" lvl="1">
              <a:lnSpc>
                <a:spcPts val="4781"/>
              </a:lnSpc>
              <a:buFont typeface="Arial"/>
              <a:buChar char="•"/>
            </a:pPr>
            <a:r>
              <a:rPr lang="en-US" sz="3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</a:t>
            </a:r>
            <a:r>
              <a:rPr lang="en-US" sz="3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nfidence Score</a:t>
            </a:r>
          </a:p>
          <a:p>
            <a:pPr algn="l">
              <a:lnSpc>
                <a:spcPts val="4781"/>
              </a:lnSpc>
            </a:pPr>
            <a:r>
              <a:rPr lang="en-US" sz="341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Trade-offs</a:t>
            </a:r>
          </a:p>
          <a:p>
            <a:pPr algn="l" marL="737424" indent="-368712" lvl="1">
              <a:lnSpc>
                <a:spcPts val="4781"/>
              </a:lnSpc>
              <a:buFont typeface="Arial"/>
              <a:buChar char="•"/>
            </a:pPr>
            <a:r>
              <a:rPr lang="en-US" sz="3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FAISS chosen over Chroma for simplicity</a:t>
            </a:r>
          </a:p>
          <a:p>
            <a:pPr algn="l" marL="737424" indent="-368712" lvl="1">
              <a:lnSpc>
                <a:spcPts val="4781"/>
              </a:lnSpc>
              <a:buFont typeface="Arial"/>
              <a:buChar char="•"/>
            </a:pPr>
            <a:r>
              <a:rPr lang="en-US" sz="3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Smaller embedding model for speed vs accuracy</a:t>
            </a:r>
          </a:p>
          <a:p>
            <a:pPr algn="l" marL="737424" indent="-368712" lvl="1">
              <a:lnSpc>
                <a:spcPts val="4781"/>
              </a:lnSpc>
              <a:buFont typeface="Arial"/>
              <a:buChar char="•"/>
            </a:pPr>
            <a:r>
              <a:rPr lang="en-US" sz="3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chunk size to balance context quality</a:t>
            </a:r>
          </a:p>
          <a:p>
            <a:pPr algn="l">
              <a:lnSpc>
                <a:spcPts val="4781"/>
              </a:lnSpc>
            </a:pPr>
            <a:r>
              <a:rPr lang="en-US" sz="341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Learnings</a:t>
            </a:r>
          </a:p>
          <a:p>
            <a:pPr algn="l" marL="737424" indent="-368712" lvl="1">
              <a:lnSpc>
                <a:spcPts val="4781"/>
              </a:lnSpc>
              <a:buFont typeface="Arial"/>
              <a:buChar char="•"/>
            </a:pPr>
            <a:r>
              <a:rPr lang="en-US" sz="3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 quality directly impacts answer quality</a:t>
            </a:r>
          </a:p>
          <a:p>
            <a:pPr algn="l" marL="737424" indent="-368712" lvl="1">
              <a:lnSpc>
                <a:spcPts val="4781"/>
              </a:lnSpc>
              <a:buFont typeface="Arial"/>
              <a:buChar char="•"/>
            </a:pPr>
            <a:r>
              <a:rPr lang="en-US" sz="3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 scoring is not trivial and must be logic-driven</a:t>
            </a:r>
          </a:p>
          <a:p>
            <a:pPr algn="l" marL="737424" indent="-368712" lvl="1">
              <a:lnSpc>
                <a:spcPts val="4781"/>
              </a:lnSpc>
              <a:buFont typeface="Arial"/>
              <a:buChar char="•"/>
            </a:pPr>
            <a:r>
              <a:rPr lang="en-US" sz="3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Chunking strategy is critical for RAG performance</a:t>
            </a:r>
          </a:p>
          <a:p>
            <a:pPr algn="l" marL="737424" indent="-368712" lvl="1">
              <a:lnSpc>
                <a:spcPts val="4781"/>
              </a:lnSpc>
              <a:buFont typeface="Arial"/>
              <a:buChar char="•"/>
            </a:pPr>
            <a:r>
              <a:rPr lang="en-US" sz="34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 systems need guardrails to avoid hallucinations</a:t>
            </a:r>
          </a:p>
          <a:p>
            <a:pPr algn="l">
              <a:lnSpc>
                <a:spcPts val="478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1755" y="321912"/>
            <a:ext cx="17744489" cy="9643175"/>
            <a:chOff x="0" y="0"/>
            <a:chExt cx="4673446" cy="2539766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4673446" cy="2539766"/>
            </a:xfrm>
            <a:custGeom>
              <a:avLst/>
              <a:gdLst/>
              <a:ahLst/>
              <a:cxnLst/>
              <a:rect r="r" b="b" t="t" l="l"/>
              <a:pathLst>
                <a:path h="2539766" w="4673446">
                  <a:moveTo>
                    <a:pt x="0" y="0"/>
                  </a:moveTo>
                  <a:lnTo>
                    <a:pt x="4673446" y="0"/>
                  </a:lnTo>
                  <a:lnTo>
                    <a:pt x="4673446" y="2539766"/>
                  </a:lnTo>
                  <a:lnTo>
                    <a:pt x="0" y="253976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673446" cy="2596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58557" y="926806"/>
            <a:ext cx="16370019" cy="836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3"/>
              </a:lnSpc>
            </a:pPr>
            <a:r>
              <a:rPr lang="en-US" sz="472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DEMO SUMMARY &amp; NEXT STEPS</a:t>
            </a:r>
          </a:p>
          <a:p>
            <a:pPr algn="l">
              <a:lnSpc>
                <a:spcPts val="5143"/>
              </a:lnSpc>
            </a:pPr>
            <a:r>
              <a:rPr lang="en-US" sz="367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Solution</a:t>
            </a:r>
          </a:p>
          <a:p>
            <a:pPr algn="l" marL="793209" indent="-396605" lvl="1">
              <a:lnSpc>
                <a:spcPts val="5143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Multi-document upload</a:t>
            </a:r>
          </a:p>
          <a:p>
            <a:pPr algn="l" marL="793209" indent="-396605" lvl="1">
              <a:lnSpc>
                <a:spcPts val="5143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Context-grounded Q&amp;A</a:t>
            </a:r>
          </a:p>
          <a:p>
            <a:pPr algn="l" marL="793209" indent="-396605" lvl="1">
              <a:lnSpc>
                <a:spcPts val="5143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 scoring</a:t>
            </a:r>
          </a:p>
          <a:p>
            <a:pPr algn="l" marL="793209" indent="-396605" lvl="1">
              <a:lnSpc>
                <a:spcPts val="5143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Streamlit UI</a:t>
            </a:r>
          </a:p>
          <a:p>
            <a:pPr algn="l">
              <a:lnSpc>
                <a:spcPts val="5143"/>
              </a:lnSpc>
            </a:pPr>
          </a:p>
          <a:p>
            <a:pPr algn="l">
              <a:lnSpc>
                <a:spcPts val="5143"/>
              </a:lnSpc>
            </a:pPr>
            <a:r>
              <a:rPr lang="en-US" sz="367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 / Repository</a:t>
            </a:r>
          </a:p>
          <a:p>
            <a:pPr algn="l" marL="793209" indent="-396605" lvl="1">
              <a:lnSpc>
                <a:spcPts val="5143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Demo: </a:t>
            </a:r>
            <a:r>
              <a:rPr lang="en-US" sz="3673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" tooltip="https://drive.google.com/file/d/1hRwUuUcnwNtLHNx3S8uGMRXNGwfaQOVm/view?usp=sharing"/>
              </a:rPr>
              <a:t>GoogleDrive-Link</a:t>
            </a:r>
          </a:p>
          <a:p>
            <a:pPr algn="l" marL="793209" indent="-396605" lvl="1">
              <a:lnSpc>
                <a:spcPts val="5143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Code: </a:t>
            </a:r>
            <a:r>
              <a:rPr lang="en-US" sz="3673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github.com/Varshitha-Pendyala/Mini_RAG_Assistant"/>
              </a:rPr>
              <a:t>Git-Repo</a:t>
            </a:r>
          </a:p>
          <a:p>
            <a:pPr algn="l" marL="793209" indent="-396605" lvl="1">
              <a:lnSpc>
                <a:spcPts val="5143"/>
              </a:lnSpc>
              <a:buFont typeface="Arial"/>
              <a:buChar char="•"/>
            </a:pPr>
            <a:r>
              <a:rPr lang="en-US" sz="36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Stack: Python, Streamlit, FAISS, OpenAI, LangChain</a:t>
            </a:r>
          </a:p>
          <a:p>
            <a:pPr algn="l">
              <a:lnSpc>
                <a:spcPts val="4114"/>
              </a:lnSpc>
            </a:pPr>
          </a:p>
          <a:p>
            <a:pPr algn="l">
              <a:lnSpc>
                <a:spcPts val="411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350250" y="1827375"/>
            <a:ext cx="8909050" cy="543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Enhancements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 to hybrid search (keyword + semantic)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confidence calibration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ource citation per answer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Caching embeddings for performance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Role-based access &amp; authentication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on cloud (AWS / GCP)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Adding Voice Interaction (STT &amp; TTS)</a:t>
            </a:r>
          </a:p>
          <a:p>
            <a:pPr algn="l">
              <a:lnSpc>
                <a:spcPts val="372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DAG8G8U5wwA</dc:identifier>
  <dcterms:modified xsi:type="dcterms:W3CDTF">2011-08-01T06:04:30Z</dcterms:modified>
  <cp:revision>1</cp:revision>
  <dc:title>Mini RAG Assistant</dc:title>
</cp:coreProperties>
</file>